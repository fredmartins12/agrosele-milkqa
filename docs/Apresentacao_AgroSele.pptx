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Accuracy@1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Sheet1!$A$2:$A$9</c:f>
              <c:strCache>
                <c:ptCount val="8"/>
                <c:pt idx="0">
                  <c:v>Aleatório</c:v>
                </c:pt>
                <c:pt idx="1">
                  <c:v>Cosseno
puro</c:v>
                </c:pt>
                <c:pt idx="2">
                  <c:v>TF-IDF</c:v>
                </c:pt>
                <c:pt idx="3">
                  <c:v>Bi-encoder
congelado</c:v>
                </c:pt>
                <c:pt idx="4">
                  <c:v>Cross-
Encoder</c:v>
                </c:pt>
                <c:pt idx="5">
                  <c:v>Pipeline
(K=10)</c:v>
                </c:pt>
                <c:pt idx="6">
                  <c:v>Híbrido
BM25</c:v>
                </c:pt>
                <c:pt idx="7">
                  <c:v>Fine-tuning
parcial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</c:v>
                </c:pt>
                <c:pt idx="1">
                  <c:v>0.277</c:v>
                </c:pt>
                <c:pt idx="2">
                  <c:v>0.503</c:v>
                </c:pt>
                <c:pt idx="3">
                  <c:v>0.57</c:v>
                </c:pt>
                <c:pt idx="4">
                  <c:v>0.617</c:v>
                </c:pt>
                <c:pt idx="5">
                  <c:v>0.59</c:v>
                </c:pt>
                <c:pt idx="6">
                  <c:v>0.663</c:v>
                </c:pt>
                <c:pt idx="7">
                  <c:v>0.69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AgroSele</a:t>
            </a:r>
          </a:p>
          <a:p>
            <a:pPr>
              <a:spcBef>
                <a:spcPts val="1600"/>
              </a:spcBef>
              <a:defRPr sz="2400">
                <a:solidFill>
                  <a:srgbClr val="C8D8E8"/>
                </a:solidFill>
              </a:defRPr>
            </a:pPr>
            <a:r>
              <a:t>Seleção Automática de Respostas Técnicas para Produtores Rurais</a:t>
            </a:r>
            <a:br/>
            <a:r>
              <a:t>de Pecuária Leiteira em Português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B8D0"/>
                </a:solidFill>
              </a:defRPr>
            </a:pPr>
            <a:r>
              <a:t>Frederico Botelho Martins  |  Processamento de Linguagem Natural  |  Prof. Dr. Yuri Malheiros  |  2026.1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Serviços de extensão rural (ex.: Embrapa Gado de Leite) recebem milhares de perguntas técnicas de produtores ao longo dos anos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Muitas perguntas são semanticamente equivalentes a outras já respondidas por especialistas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Hoje, cada resposta exige trabalho manual e individualizado, um modelo que não escala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Domínio desafiador: perguntas informais e heterogêneas, vocabulário técnico compartilhado entre respostas de assuntos distintos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Motivação pessoal: o tema conecta-se a um software de gestão para fazendas leiteiras já em produção, desenvolvido pelo autor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Pergunta de Pesquisa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100584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defRPr sz="2400" i="1">
                <a:solidFill>
                  <a:srgbClr val="222222"/>
                </a:solidFill>
              </a:defRPr>
            </a:pPr>
            <a:r>
              <a:t>Até que ponto diferentes estratégias de combinação entre sinal lexical clássico e representações neurais pré-treinadas, congeladas, fundidas ou ajustadas por fine-tuning, afetam o desempenho e o custo computacional da seleção de resposta em um domínio técnico de baixo recurso como a pecuária leiteira em português?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Dados: MilkQA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A4A4A"/>
                </a:solidFill>
              </a:defRPr>
            </a:pPr>
            <a:r>
              <a:t>Seleção de resposta (answer selection) — não é classificação em classes fixas, é ranqueamento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Dataset real (Criscuolo et al., 2018): atendimento ao produtor da Embrapa Gado de Leite, 2003-2012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2.657 pares pergunta-resposta, escritos por produtores reais e respondidos por especialistas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Tarefa: dado 1 pergunta + 50 respostas candidatas (1 correta, 49 distratoras), apontar a correta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Splits oficiais: treino (2.307) | validação (50) | teste (300)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Perguntas longas e informais (média de 198 palavras, até 682)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Abordagem: 6 configurações comparadas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A4A4A"/>
                </a:solidFill>
              </a:defRPr>
            </a:pPr>
            <a:r>
              <a:t>Do método mais simples ao mais sofisticado, sobre o mesmo protocolo de avaliação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1. TF-IDF clássico — tokenização + cosseno, implementado do zero, sem BERT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2. Bi-encoder — BERTimbau congelado + MLP sobre [q, a, |q−a|, q*a]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3. Cross-Encoder — self-attention conjunta sobre o par pergunta+candidata, congelado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4. Híbrido — BERTimbau congelado + escore BM25 fundido no vetor de entrada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5. Pipeline multi-estágio — BM25 filtra top-K, Cross-Encoder reranqueia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6. Fine-tuning parcial — última camada do BERTimbau descongelada e ajustada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Métricas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Accuracy@1 — a resposta correta ficou em 1º lugar no ranking das 50 candidatas?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MRR (Mean Reciprocal Rank) — média do inverso da posição da resposta correta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F1-macro não se aplica: a tarefa é de ranqueamento, não classificação em classes fixas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Baseline aleatório de referência: Accuracy@1 ≈ 0,020 | MRR ≈ 0,090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Resultados (Accuracy@1, conjunto de teste — 300 perguntas)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Achado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TF-IDF (sem BERT nenhum) quase dobra o BERTimbau cru: 0,503 vs 0,277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     -  → vocabulário técnico compartilhado favorece correspondência lexical exata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Fusão híbrida (BERT congelado + BM25) chega a 0,663 sem tocar nos pesos do BERT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     -  → recupera boa parte do ganho do fine-tuning, a 2 min vs 11h de treino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Fine-tuning parcial (0,690) é o melhor resultado isolado — mas só depois que uma primeira tentativa com dado insuficiente (300 de 2.307 perguntas) sugeriu o contrário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     -  → limitação computacional pode mascarar o real potencial de uma técnica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Exemplo Concreto: Entrada e Saída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solidFill>
            <a:srgbClr val="E8EFF5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b="1" sz="1400">
                <a:solidFill>
                  <a:srgbClr val="1B3A5C"/>
                </a:solidFill>
              </a:defRPr>
            </a:pPr>
            <a:r>
              <a:t>ENTRADA (pergunta do produtor):</a:t>
            </a:r>
          </a:p>
          <a:p>
            <a:pPr>
              <a:defRPr sz="1500" i="1"/>
            </a:pPr>
            <a:r>
              <a:t>"Meu tio Paulo mora em uma chácara... o leite azeda muito rápido... o que devemos fazer?" + 50 respostas candidatas do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1463040"/>
          </a:xfrm>
          <a:prstGeom prst="rect">
            <a:avLst/>
          </a:prstGeom>
          <a:solidFill>
            <a:srgbClr val="E6F4E6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b="1" sz="1400">
                <a:solidFill>
                  <a:srgbClr val="2E7D32"/>
                </a:solidFill>
              </a:defRPr>
            </a:pPr>
            <a:r>
              <a:t>SAÍDA (resposta selecionada pelo sistema, rank 1º de 50):</a:t>
            </a:r>
          </a:p>
          <a:p>
            <a:pPr>
              <a:defRPr sz="1500"/>
            </a:pPr>
            <a:r>
              <a:t>Resposta técnica da Embrapa sobre conservação do leite: cuidados de higiene na ordenha, resfriamento imediato e tempo máximo antes do processamento — correspondência correta confirmada pelo gabarito do MilkQA.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solidFill>
            <a:srgbClr val="FBEAE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b="1" sz="1400">
                <a:solidFill>
                  <a:srgbClr val="C0392B"/>
                </a:solidFill>
              </a:defRPr>
            </a:pPr>
            <a:r>
              <a:t>Caso de ERRO (análise qualitativa, fine-tuning parcial):</a:t>
            </a:r>
          </a:p>
          <a:p>
            <a:pPr>
              <a:defRPr sz="1400"/>
            </a:pPr>
            <a:r>
              <a:t>Pergunta sobre frequência/horário de alimentação das vacas → sistema escolheu (score 0,388) uma resposta com fórmula de ração de baixo custo, em vez da resposta correta sobre produção a pasto (score 0,000, posição 38/50).</a:t>
            </a:r>
          </a:p>
          <a:p>
            <a:pPr>
              <a:defRPr sz="1400" i="1"/>
            </a:pPr>
            <a:r>
              <a:t>Causa provável: a resposta errada tem alta densidade de vocabulário técnico (insumos, proporções numéricas) que funciona como "atrator" lexical, mesmo divergindo do subtema exato da pergunta.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Demonstração 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Uma pergunta real do conjunto de teste (nunca vista em treino) ranqueada por 3 métodos, ao vivo, sem retreinar nada: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     -  1. TF-IDF — léxico puro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     -  2. Cosseno sobre BERTimbau congelado — neural, sem treino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     -  3. Cross-Encoder treinado — self-attention conjunta sobre o par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Notebook: docs/demo_sala_aula.ipynb (caches e checkpoints já prontos, cada célula roda em segundos)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A turma escolhe o número da pergunta (0 a 299) — resultado é genuinamente ao vivo, não ensaiado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Truncamento de texto em 256 tokens (128 nas variantes com fine-tuning/Cross-Encoder) descarta informação de cauda em respostas longas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Amostragem de negativos majoritariamente aleatória (hard negative mining testado, sem ganho estatístico)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Backbone congelado nas variantes híbrida e Cross-Encoder — não explora combinar arquitetura + fine-tuning simultaneamente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Sem comparação direta com uma API comercial de LLM (decisão metodológica: custo, latência, privacidade, determinismo)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Modelo ainda erra sistematicamente diante de candidatas lexicalmente densas, mesmo quando fora do subtema exato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8E4F0"/>
                </a:solidFill>
              </a:defRPr>
            </a:pPr>
            <a:r>
              <a:t>•  Sinal lexical explícito e volume de dado de treino pesam tanto quanto a arquitetura escolhida</a:t>
            </a:r>
          </a:p>
          <a:p>
            <a:pPr>
              <a:spcAft>
                <a:spcPts val="1800"/>
              </a:spcAft>
              <a:defRPr sz="2000">
                <a:solidFill>
                  <a:srgbClr val="D8E4F0"/>
                </a:solidFill>
              </a:defRPr>
            </a:pPr>
            <a:r>
              <a:t>•  Fine-tuning parcial é o melhor resultado isolado (0,690), mas o híbrido BM25 chega perto (0,663) a uma fração do custo</a:t>
            </a:r>
          </a:p>
          <a:p>
            <a:pPr>
              <a:spcAft>
                <a:spcPts val="1800"/>
              </a:spcAft>
              <a:defRPr sz="2000">
                <a:solidFill>
                  <a:srgbClr val="D8E4F0"/>
                </a:solidFill>
              </a:defRPr>
            </a:pPr>
            <a:r>
              <a:t>•  Pipeline multi-estágio recupera qualidade do Cross-Encoder com até 80% menos custo computacional</a:t>
            </a:r>
          </a:p>
          <a:p>
            <a:pPr>
              <a:spcAft>
                <a:spcPts val="1800"/>
              </a:spcAft>
              <a:defRPr sz="2000">
                <a:solidFill>
                  <a:srgbClr val="D8E4F0"/>
                </a:solidFill>
              </a:defRPr>
            </a:pPr>
            <a:r>
              <a:t>•  Código, notebooks executados e artigo completo: github.com/fredmartins12/AgroSele-MilkQA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FFFFFF"/>
                </a:solidFill>
              </a:defRPr>
            </a:pPr>
            <a:r>
              <a:t>Obrigado!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